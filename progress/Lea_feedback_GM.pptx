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Autor:in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nd und Meer bei Sonnenunterga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Textebene 1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:in und Datum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Autor:in und Datum</a:t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titel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Folientitel</a:t>
            </a:r>
          </a:p>
        </p:txBody>
      </p:sp>
      <p:sp>
        <p:nvSpPr>
          <p:cNvPr id="33" name="Meer und Himmel bei Sonnenuntergang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Textebene 1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3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Folien-Untertitel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titel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61" name="Meer und Himmel bei Sonnenuntergang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Folien-Untertitel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63" name="Textebene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lientitel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72" name="Folien-Untertitel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73" name="Textebene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titel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82" name="Folien-Untertitel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83" name="Textebene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el des Abschnitts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Titel des Abschnitts</a:t>
            </a:r>
          </a:p>
        </p:txBody>
      </p:sp>
      <p:sp>
        <p:nvSpPr>
          <p:cNvPr id="92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100" name="Folien-Untertitel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101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-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09" name="Textebene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-Untertitel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Agenda-Untertitel</a:t>
            </a:r>
          </a:p>
        </p:txBody>
      </p:sp>
      <p:sp>
        <p:nvSpPr>
          <p:cNvPr id="111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bene 1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kte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Fakten</a:t>
            </a:r>
          </a:p>
        </p:txBody>
      </p:sp>
      <p:sp>
        <p:nvSpPr>
          <p:cNvPr id="127" name="Textebene 1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Quellenangabe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Quellenangabe</a:t>
            </a:r>
          </a:p>
        </p:txBody>
      </p:sp>
      <p:sp>
        <p:nvSpPr>
          <p:cNvPr id="136" name="Textebene 1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eer und Himmel bei Sonnenuntergang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eer und Himmel bei Sonnenuntergang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Strand und Meer bei Sonnenuntergang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trand und Meer bei Sonnenuntergang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olientitel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 algn="l" defTabSz="2438338">
              <a:defRPr b="1" spc="-170" sz="8500">
                <a:solidFill>
                  <a:srgbClr val="004D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170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171" name="Textebene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609600" indent="-609600">
              <a:spcBef>
                <a:spcPts val="4500"/>
              </a:spcBef>
              <a:buSzPct val="123000"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200" indent="-609600">
              <a:spcBef>
                <a:spcPts val="4500"/>
              </a:spcBef>
              <a:buSzPct val="123000"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828800" indent="-609600">
              <a:spcBef>
                <a:spcPts val="4500"/>
              </a:spcBef>
              <a:buSzPct val="123000"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438400" indent="-609600">
              <a:spcBef>
                <a:spcPts val="4500"/>
              </a:spcBef>
              <a:buSzPct val="123000"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048000" indent="-609600">
              <a:spcBef>
                <a:spcPts val="4500"/>
              </a:spcBef>
              <a:buSzPct val="123000"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2" name="Folien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By eye: 1 period: 2004-2008-11, 2. period: 2009-2014-11, 3. period: 2015-2020…"/>
          <p:cNvSpPr txBox="1"/>
          <p:nvPr>
            <p:ph type="body" sz="half" idx="1"/>
          </p:nvPr>
        </p:nvSpPr>
        <p:spPr>
          <a:xfrm>
            <a:off x="1243522" y="9723747"/>
            <a:ext cx="22298231" cy="3259112"/>
          </a:xfrm>
          <a:prstGeom prst="rect">
            <a:avLst/>
          </a:prstGeom>
        </p:spPr>
        <p:txBody>
          <a:bodyPr/>
          <a:lstStyle/>
          <a:p>
            <a:pPr marL="603504" indent="-603504" defTabSz="2413955">
              <a:spcBef>
                <a:spcPts val="2900"/>
              </a:spcBef>
              <a:defRPr sz="4752"/>
            </a:pPr>
            <a:r>
              <a:t>By eye: 1 period: 2004-2008-11, 2. period: 2009-2014-11, 3. period: 2015-2020</a:t>
            </a:r>
          </a:p>
          <a:p>
            <a:pPr marL="603504" indent="-603504" defTabSz="2413955">
              <a:spcBef>
                <a:spcPts val="2900"/>
              </a:spcBef>
              <a:defRPr sz="4752"/>
            </a:pPr>
            <a:r>
              <a:t>break between 16°N and 5°N </a:t>
            </a:r>
          </a:p>
          <a:p>
            <a:pPr marL="0" indent="0" defTabSz="2413955">
              <a:spcBef>
                <a:spcPts val="2900"/>
              </a:spcBef>
              <a:buSzTx/>
              <a:buNone/>
              <a:defRPr sz="4752"/>
            </a:pPr>
            <a14:m>
              <m:oMath>
                <m:r>
                  <a:rPr xmlns:a="http://schemas.openxmlformats.org/drawingml/2006/main" sz="5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</m:oMath>
            </a14:m>
            <a:r>
              <a:t> validate / investigate timescales using wavelet coherence!</a:t>
            </a:r>
            <a:endParaRPr sz="4800"/>
          </a:p>
        </p:txBody>
      </p:sp>
      <p:sp>
        <p:nvSpPr>
          <p:cNvPr id="182" name="Cross correlation for periods shows break"/>
          <p:cNvSpPr txBox="1"/>
          <p:nvPr>
            <p:ph type="title"/>
          </p:nvPr>
        </p:nvSpPr>
        <p:spPr>
          <a:xfrm>
            <a:off x="1206500" y="952500"/>
            <a:ext cx="21971000" cy="1919358"/>
          </a:xfrm>
          <a:prstGeom prst="rect">
            <a:avLst/>
          </a:prstGeom>
        </p:spPr>
        <p:txBody>
          <a:bodyPr/>
          <a:lstStyle/>
          <a:p>
            <a:pPr/>
            <a:r>
              <a:t>Cross correlation for periods shows break</a:t>
            </a:r>
          </a:p>
        </p:txBody>
      </p:sp>
      <p:pic>
        <p:nvPicPr>
          <p:cNvPr id="183" name="crosscorr_anomdetrended_data.png" descr="crosscorr_anomdetrended_data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0216" y="2257545"/>
            <a:ext cx="20903568" cy="69934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Wavelet coherence: 16°N and 5°N"/>
          <p:cNvSpPr txBox="1"/>
          <p:nvPr>
            <p:ph type="title"/>
          </p:nvPr>
        </p:nvSpPr>
        <p:spPr>
          <a:xfrm>
            <a:off x="1206500" y="952500"/>
            <a:ext cx="21971000" cy="1919358"/>
          </a:xfrm>
          <a:prstGeom prst="rect">
            <a:avLst/>
          </a:prstGeom>
        </p:spPr>
        <p:txBody>
          <a:bodyPr/>
          <a:lstStyle/>
          <a:p>
            <a:pPr/>
            <a:r>
              <a:t>Wavelet coherence: 16°N and 5°N</a:t>
            </a:r>
          </a:p>
        </p:txBody>
      </p:sp>
      <p:sp>
        <p:nvSpPr>
          <p:cNvPr id="186" name="Validate / investigate timescales using wavelet coherence (Cross correlation split by eye)…"/>
          <p:cNvSpPr txBox="1"/>
          <p:nvPr/>
        </p:nvSpPr>
        <p:spPr>
          <a:xfrm>
            <a:off x="879723" y="2433077"/>
            <a:ext cx="13793706" cy="10582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Validate / investigate timescales using wavelet coherence (Cross correlation split by eye) </a:t>
            </a: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Interpretation of wavelet coherence plot:</a:t>
            </a:r>
          </a:p>
          <a:p>
            <a:pPr defTabSz="1511770">
              <a:spcBef>
                <a:spcPts val="1800"/>
              </a:spcBef>
              <a:defRPr b="1"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On (bi-) annual scales:</a:t>
            </a:r>
          </a:p>
          <a:p>
            <a:pPr marL="377952" indent="-377952" defTabSz="1511770">
              <a:spcBef>
                <a:spcPts val="1800"/>
              </a:spcBef>
              <a:buSzPct val="123000"/>
              <a:buChar char="•"/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/>
              <a:t>Drop of coherence</a:t>
            </a:r>
            <a:r>
              <a:t> below 0.4 (not significant), strongly pronounced around </a:t>
            </a:r>
            <a:r>
              <a:rPr b="1"/>
              <a:t>2009 - 2014 </a:t>
            </a:r>
            <a:r>
              <a:t>(including 2014)</a:t>
            </a:r>
            <a:endParaRPr b="1"/>
          </a:p>
          <a:p>
            <a:pPr marL="377952" indent="-377952" defTabSz="1511770">
              <a:spcBef>
                <a:spcPts val="1800"/>
              </a:spcBef>
              <a:buSzPct val="123000"/>
              <a:buChar char="•"/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Phase arrows are</a:t>
            </a:r>
            <a:r>
              <a:rPr b="1"/>
              <a:t> scattered </a:t>
            </a:r>
            <a:r>
              <a:t>around </a:t>
            </a:r>
            <a14:m>
              <m:oMath>
                <m:r>
                  <a:rPr xmlns:a="http://schemas.openxmlformats.org/drawingml/2006/main" sz="3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</m:oMath>
            </a14:m>
            <a:r>
              <a:t> no stable relative phase relationship</a:t>
            </a:r>
          </a:p>
          <a:p>
            <a:pPr defTabSz="1511770">
              <a:spcBef>
                <a:spcPts val="1800"/>
              </a:spcBef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Interannual:</a:t>
            </a:r>
          </a:p>
          <a:p>
            <a:pPr marL="377952" indent="-377952" defTabSz="1511770">
              <a:spcBef>
                <a:spcPts val="1800"/>
              </a:spcBef>
              <a:buSzPct val="123000"/>
              <a:buChar char="•"/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Around 3 years again high coherence</a:t>
            </a:r>
          </a:p>
          <a:p>
            <a:pPr marL="377952" indent="-377952" defTabSz="1511770">
              <a:spcBef>
                <a:spcPts val="1800"/>
              </a:spcBef>
              <a:buSzPct val="123000"/>
              <a:buChar char="•"/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Similar drop in coherence around 4-5 year period as on annual scales (</a:t>
            </a:r>
            <a:r>
              <a:rPr b="1"/>
              <a:t>not significant</a:t>
            </a:r>
            <a:r>
              <a:t>) , out of phase (i.e. anti-correlation?)</a:t>
            </a:r>
          </a:p>
          <a:p>
            <a:pPr marL="377952" indent="-377952" defTabSz="1511770">
              <a:spcBef>
                <a:spcPts val="1800"/>
              </a:spcBef>
              <a:buSzPct val="123000"/>
              <a:buChar char="•"/>
              <a:defRPr sz="2976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Around 2008 - 2010: 16°N leading by ~1 year, then around 2012 switch to 5°N leading by ~1 year</a:t>
            </a:r>
          </a:p>
        </p:txBody>
      </p:sp>
      <p:pic>
        <p:nvPicPr>
          <p:cNvPr id="187" name="16_5N.png" descr="16_5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66422" y="3015295"/>
            <a:ext cx="10036874" cy="8088695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Wavelet coherence transform between 16°N and 5°N. Period in logarithmic scale."/>
          <p:cNvSpPr txBox="1"/>
          <p:nvPr/>
        </p:nvSpPr>
        <p:spPr>
          <a:xfrm>
            <a:off x="16237327" y="11529440"/>
            <a:ext cx="6295064" cy="103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spcBef>
                <a:spcPts val="4500"/>
              </a:spcBef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Wavelet coherence transform between 16°N and 5°N. Period in logarithmic scale.</a:t>
            </a:r>
          </a:p>
        </p:txBody>
      </p:sp>
      <p:pic>
        <p:nvPicPr>
          <p:cNvPr id="189" name="crosscorr_anomdetrended_data.png" descr="crosscorr_anomdetrended_data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26504" y="3187092"/>
            <a:ext cx="9900143" cy="33121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Wavelet coherence: 26°N and 25°S"/>
          <p:cNvSpPr txBox="1"/>
          <p:nvPr>
            <p:ph type="title"/>
          </p:nvPr>
        </p:nvSpPr>
        <p:spPr>
          <a:xfrm>
            <a:off x="1206500" y="952500"/>
            <a:ext cx="21971000" cy="1919358"/>
          </a:xfrm>
          <a:prstGeom prst="rect">
            <a:avLst/>
          </a:prstGeom>
        </p:spPr>
        <p:txBody>
          <a:bodyPr/>
          <a:lstStyle/>
          <a:p>
            <a:pPr/>
            <a:r>
              <a:t>Wavelet coherence: 26°N and 25°S</a:t>
            </a:r>
          </a:p>
        </p:txBody>
      </p:sp>
      <p:pic>
        <p:nvPicPr>
          <p:cNvPr id="192" name="26_25S.png" descr="26_25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77554" y="3221512"/>
            <a:ext cx="10575337" cy="8522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MHT_26N25S_2009_2014-11_timeseries_.png" descr="MHT_26N25S_2009_2014-11_timeseries_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4704" y="2415461"/>
            <a:ext cx="11497934" cy="561239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High coherence &amp; out of phase around 2010-2013 (26°N leading slightly) for periods &gt;4 years"/>
          <p:cNvSpPr txBox="1"/>
          <p:nvPr/>
        </p:nvSpPr>
        <p:spPr>
          <a:xfrm>
            <a:off x="879723" y="9101355"/>
            <a:ext cx="12047896" cy="476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>
              <a:spcBef>
                <a:spcPts val="3000"/>
              </a:spcBef>
              <a:buSzPct val="123000"/>
              <a:buChar char="•"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High coherence &amp; out of phase around 2010-2013 (26°N leading slightly) for periods &gt;4 years</a:t>
            </a:r>
          </a:p>
        </p:txBody>
      </p:sp>
      <p:sp>
        <p:nvSpPr>
          <p:cNvPr id="195" name="Wavelet coherence transform between 26°N and 25°S. Period in logarithmic scale."/>
          <p:cNvSpPr txBox="1"/>
          <p:nvPr/>
        </p:nvSpPr>
        <p:spPr>
          <a:xfrm>
            <a:off x="15617691" y="12093808"/>
            <a:ext cx="6295064" cy="1037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spcBef>
                <a:spcPts val="4500"/>
              </a:spcBef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Wavelet coherence transform between 26°N and 25°S. Period in logarithmic scale.</a:t>
            </a:r>
          </a:p>
        </p:txBody>
      </p:sp>
      <p:sp>
        <p:nvSpPr>
          <p:cNvPr id="196" name="Time series of MHT anomalies (PW) for 26°N and 25°S."/>
          <p:cNvSpPr txBox="1"/>
          <p:nvPr/>
        </p:nvSpPr>
        <p:spPr>
          <a:xfrm>
            <a:off x="3710751" y="8045679"/>
            <a:ext cx="6385840" cy="103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spcBef>
                <a:spcPts val="4500"/>
              </a:spcBef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Time series of MHT anomalies (PW) for 26°N and 25°S.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hteck"/>
          <p:cNvSpPr/>
          <p:nvPr/>
        </p:nvSpPr>
        <p:spPr>
          <a:xfrm>
            <a:off x="14400648" y="7303703"/>
            <a:ext cx="8096224" cy="1919359"/>
          </a:xfrm>
          <a:prstGeom prst="rect">
            <a:avLst/>
          </a:prstGeom>
          <a:solidFill>
            <a:srgbClr val="FFF056">
              <a:alpha val="545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9" name="Cross correlation between blocks shows break"/>
          <p:cNvSpPr txBox="1"/>
          <p:nvPr>
            <p:ph type="title"/>
          </p:nvPr>
        </p:nvSpPr>
        <p:spPr>
          <a:xfrm>
            <a:off x="1206500" y="952500"/>
            <a:ext cx="21971000" cy="1919358"/>
          </a:xfrm>
          <a:prstGeom prst="rect">
            <a:avLst/>
          </a:prstGeom>
        </p:spPr>
        <p:txBody>
          <a:bodyPr/>
          <a:lstStyle>
            <a:lvl1pPr defTabSz="2292038">
              <a:defRPr spc="-159" sz="7990"/>
            </a:lvl1pPr>
          </a:lstStyle>
          <a:p>
            <a:pPr/>
            <a:r>
              <a:t>Cross correlation between blocks shows break</a:t>
            </a:r>
          </a:p>
        </p:txBody>
      </p:sp>
      <p:graphicFrame>
        <p:nvGraphicFramePr>
          <p:cNvPr id="200" name="Tabelle 1"/>
          <p:cNvGraphicFramePr/>
          <p:nvPr/>
        </p:nvGraphicFramePr>
        <p:xfrm>
          <a:off x="14406998" y="3554132"/>
          <a:ext cx="8096224" cy="7561568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694507"/>
                <a:gridCol w="2694507"/>
                <a:gridCol w="2694507"/>
              </a:tblGrid>
              <a:tr h="1887216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b="1"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Period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b="1"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Corr ST &amp; SA block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b="1"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Significant (95%)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887216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b="1"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 2009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887216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b="1"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2009-2014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887216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b="1"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Post 2014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 
(rcrit: 0.48)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201" name="I can find the imprint of the coherence break already in the raw (and the detrended) data…"/>
          <p:cNvSpPr txBox="1"/>
          <p:nvPr>
            <p:ph type="body" sz="half" idx="1"/>
          </p:nvPr>
        </p:nvSpPr>
        <p:spPr>
          <a:xfrm>
            <a:off x="1026308" y="3162009"/>
            <a:ext cx="12041341" cy="860845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0"/>
              </a:spcBef>
            </a:pPr>
            <a:r>
              <a:t>I can find the imprint of the coherence break already in the raw (and the detrended) data</a:t>
            </a:r>
          </a:p>
          <a:p>
            <a:pPr>
              <a:spcBef>
                <a:spcPts val="3000"/>
              </a:spcBef>
            </a:pPr>
            <a:r>
              <a:t>Significance calculated for each period separately </a:t>
            </a:r>
          </a:p>
          <a:p>
            <a:pPr marL="0" indent="0">
              <a:spcBef>
                <a:spcPts val="3000"/>
              </a:spcBef>
              <a:buSzTx/>
              <a:buNone/>
            </a:pP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</m:oMath>
            </a14:m>
            <a:r>
              <a:t> perform correlation analysis using the unfiltered (only detrended) data </a:t>
            </a:r>
            <a:r>
              <a:rPr>
                <a:solidFill>
                  <a:schemeClr val="accent5"/>
                </a:solidFill>
              </a:rPr>
              <a:t>? </a:t>
            </a:r>
          </a:p>
          <a:p>
            <a:pPr>
              <a:spcBef>
                <a:spcPts val="3000"/>
              </a:spcBef>
            </a:pPr>
            <a:r>
              <a:t>(as for wavelet coherence I should use unfiltered aswell)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